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6" r:id="rId9"/>
    <p:sldId id="267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cs-CZ"/>
    </a:defPPr>
    <a:lvl1pPr marL="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1pPr>
    <a:lvl2pPr marL="452537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2pPr>
    <a:lvl3pPr marL="90507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3pPr>
    <a:lvl4pPr marL="135761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4pPr>
    <a:lvl5pPr marL="181014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5pPr>
    <a:lvl6pPr marL="226268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6pPr>
    <a:lvl7pPr marL="2715219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7pPr>
    <a:lvl8pPr marL="316775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8pPr>
    <a:lvl9pPr marL="3620292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6D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51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kanina Radim" userId="398556c5-0db1-452d-b39a-f5b65a20159a" providerId="ADAL" clId="{EDCA69E9-050F-4232-93F3-DFE533F1DACF}"/>
    <pc:docChg chg="undo custSel modSld">
      <pc:chgData name="Sekanina Radim" userId="398556c5-0db1-452d-b39a-f5b65a20159a" providerId="ADAL" clId="{EDCA69E9-050F-4232-93F3-DFE533F1DACF}" dt="2026-05-31T14:58:17.929" v="56" actId="20577"/>
      <pc:docMkLst>
        <pc:docMk/>
      </pc:docMkLst>
      <pc:sldChg chg="modSp mod">
        <pc:chgData name="Sekanina Radim" userId="398556c5-0db1-452d-b39a-f5b65a20159a" providerId="ADAL" clId="{EDCA69E9-050F-4232-93F3-DFE533F1DACF}" dt="2026-05-31T14:58:17.929" v="56" actId="20577"/>
        <pc:sldMkLst>
          <pc:docMk/>
          <pc:sldMk cId="2942672144" sldId="262"/>
        </pc:sldMkLst>
        <pc:spChg chg="mod">
          <ac:chgData name="Sekanina Radim" userId="398556c5-0db1-452d-b39a-f5b65a20159a" providerId="ADAL" clId="{EDCA69E9-050F-4232-93F3-DFE533F1DACF}" dt="2026-05-31T14:58:17.929" v="56" actId="20577"/>
          <ac:spMkLst>
            <pc:docMk/>
            <pc:sldMk cId="2942672144" sldId="262"/>
            <ac:spMk id="3" creationId="{7B5BB11D-C351-DEBC-9861-1F7D65DEC9E5}"/>
          </ac:spMkLst>
        </pc:spChg>
      </pc:sldChg>
      <pc:sldChg chg="modSp mod">
        <pc:chgData name="Sekanina Radim" userId="398556c5-0db1-452d-b39a-f5b65a20159a" providerId="ADAL" clId="{EDCA69E9-050F-4232-93F3-DFE533F1DACF}" dt="2026-05-31T14:40:01.104" v="1" actId="1076"/>
        <pc:sldMkLst>
          <pc:docMk/>
          <pc:sldMk cId="3009510040" sldId="266"/>
        </pc:sldMkLst>
        <pc:picChg chg="mod">
          <ac:chgData name="Sekanina Radim" userId="398556c5-0db1-452d-b39a-f5b65a20159a" providerId="ADAL" clId="{EDCA69E9-050F-4232-93F3-DFE533F1DACF}" dt="2026-05-31T14:40:01.104" v="1" actId="1076"/>
          <ac:picMkLst>
            <pc:docMk/>
            <pc:sldMk cId="3009510040" sldId="266"/>
            <ac:picMk id="7" creationId="{345827C2-E301-E2E3-2FA1-9C79417FB42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63115" y="6467142"/>
            <a:ext cx="9266395" cy="216551"/>
          </a:xfrm>
        </p:spPr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08B5-70B9-4C5F-AF02-D9EDC7B7F126}" type="slidenum">
              <a:rPr lang="en-001" smtClean="0"/>
              <a:t>‹#›</a:t>
            </a:fld>
            <a:endParaRPr lang="en-001"/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062" y="2905398"/>
            <a:ext cx="3350603" cy="103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83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410" y="1985055"/>
            <a:ext cx="10241805" cy="1616983"/>
          </a:xfrm>
        </p:spPr>
        <p:txBody>
          <a:bodyPr anchor="t">
            <a:normAutofit/>
          </a:bodyPr>
          <a:lstStyle>
            <a:lvl1pPr algn="l">
              <a:defRPr sz="3522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410" y="3602037"/>
            <a:ext cx="10241805" cy="1556676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accent2"/>
                </a:solidFill>
              </a:defRPr>
            </a:lvl1pPr>
            <a:lvl2pPr marL="609589" indent="0" algn="ctr">
              <a:buNone/>
              <a:defRPr sz="2666"/>
            </a:lvl2pPr>
            <a:lvl3pPr marL="1219177" indent="0" algn="ctr">
              <a:buNone/>
              <a:defRPr sz="2400"/>
            </a:lvl3pPr>
            <a:lvl4pPr marL="1828766" indent="0" algn="ctr">
              <a:buNone/>
              <a:defRPr sz="2134"/>
            </a:lvl4pPr>
            <a:lvl5pPr marL="2438355" indent="0" algn="ctr">
              <a:buNone/>
              <a:defRPr sz="2134"/>
            </a:lvl5pPr>
            <a:lvl6pPr marL="3047943" indent="0" algn="ctr">
              <a:buNone/>
              <a:defRPr sz="2134"/>
            </a:lvl6pPr>
            <a:lvl7pPr marL="3657532" indent="0" algn="ctr">
              <a:buNone/>
              <a:defRPr sz="2134"/>
            </a:lvl7pPr>
            <a:lvl8pPr marL="4267122" indent="0" algn="ctr">
              <a:buNone/>
              <a:defRPr sz="2134"/>
            </a:lvl8pPr>
            <a:lvl9pPr marL="4876710" indent="0" algn="ctr">
              <a:buNone/>
              <a:defRPr sz="2134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08B5-70B9-4C5F-AF02-D9EDC7B7F12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62596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410" y="4392132"/>
            <a:ext cx="10241805" cy="985036"/>
          </a:xfrm>
        </p:spPr>
        <p:txBody>
          <a:bodyPr anchor="t">
            <a:normAutofit/>
          </a:bodyPr>
          <a:lstStyle>
            <a:lvl1pPr algn="ctr">
              <a:defRPr sz="3522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410" y="5377172"/>
            <a:ext cx="10241805" cy="948298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accent2"/>
                </a:solidFill>
              </a:defRPr>
            </a:lvl1pPr>
            <a:lvl2pPr marL="609589" indent="0" algn="ctr">
              <a:buNone/>
              <a:defRPr sz="2666"/>
            </a:lvl2pPr>
            <a:lvl3pPr marL="1219177" indent="0" algn="ctr">
              <a:buNone/>
              <a:defRPr sz="2400"/>
            </a:lvl3pPr>
            <a:lvl4pPr marL="1828766" indent="0" algn="ctr">
              <a:buNone/>
              <a:defRPr sz="2134"/>
            </a:lvl4pPr>
            <a:lvl5pPr marL="2438355" indent="0" algn="ctr">
              <a:buNone/>
              <a:defRPr sz="2134"/>
            </a:lvl5pPr>
            <a:lvl6pPr marL="3047943" indent="0" algn="ctr">
              <a:buNone/>
              <a:defRPr sz="2134"/>
            </a:lvl6pPr>
            <a:lvl7pPr marL="3657532" indent="0" algn="ctr">
              <a:buNone/>
              <a:defRPr sz="2134"/>
            </a:lvl7pPr>
            <a:lvl8pPr marL="4267122" indent="0" algn="ctr">
              <a:buNone/>
              <a:defRPr sz="2134"/>
            </a:lvl8pPr>
            <a:lvl9pPr marL="4876710" indent="0" algn="ctr">
              <a:buNone/>
              <a:defRPr sz="2134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63115" y="6467142"/>
            <a:ext cx="9266395" cy="216551"/>
          </a:xfrm>
        </p:spPr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08B5-70B9-4C5F-AF02-D9EDC7B7F126}" type="slidenum">
              <a:rPr lang="en-001" smtClean="0"/>
              <a:t>‹#›</a:t>
            </a:fld>
            <a:endParaRPr lang="en-001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947" y="1263216"/>
            <a:ext cx="2208731" cy="182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2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08B5-70B9-4C5F-AF02-D9EDC7B7F12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60320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5411" y="2468686"/>
            <a:ext cx="4907806" cy="390875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410" y="2468686"/>
            <a:ext cx="4907806" cy="390875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08B5-70B9-4C5F-AF02-D9EDC7B7F12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118331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410" y="1624136"/>
            <a:ext cx="10241805" cy="750711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410" y="2374847"/>
            <a:ext cx="4906313" cy="69514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9" indent="0">
              <a:buNone/>
              <a:defRPr sz="2666" b="1"/>
            </a:lvl2pPr>
            <a:lvl3pPr marL="1219177" indent="0">
              <a:buNone/>
              <a:defRPr sz="2400" b="1"/>
            </a:lvl3pPr>
            <a:lvl4pPr marL="1828766" indent="0">
              <a:buNone/>
              <a:defRPr sz="2134" b="1"/>
            </a:lvl4pPr>
            <a:lvl5pPr marL="2438355" indent="0">
              <a:buNone/>
              <a:defRPr sz="2134" b="1"/>
            </a:lvl5pPr>
            <a:lvl6pPr marL="3047943" indent="0">
              <a:buNone/>
              <a:defRPr sz="2134" b="1"/>
            </a:lvl6pPr>
            <a:lvl7pPr marL="3657532" indent="0">
              <a:buNone/>
              <a:defRPr sz="2134" b="1"/>
            </a:lvl7pPr>
            <a:lvl8pPr marL="4267122" indent="0">
              <a:buNone/>
              <a:defRPr sz="2134" b="1"/>
            </a:lvl8pPr>
            <a:lvl9pPr marL="4876710" indent="0">
              <a:buNone/>
              <a:defRPr sz="2134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5410" y="3159695"/>
            <a:ext cx="4906313" cy="321774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0903" y="2374847"/>
            <a:ext cx="4906313" cy="69514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9" indent="0">
              <a:buNone/>
              <a:defRPr sz="2666" b="1"/>
            </a:lvl2pPr>
            <a:lvl3pPr marL="1219177" indent="0">
              <a:buNone/>
              <a:defRPr sz="2400" b="1"/>
            </a:lvl3pPr>
            <a:lvl4pPr marL="1828766" indent="0">
              <a:buNone/>
              <a:defRPr sz="2134" b="1"/>
            </a:lvl4pPr>
            <a:lvl5pPr marL="2438355" indent="0">
              <a:buNone/>
              <a:defRPr sz="2134" b="1"/>
            </a:lvl5pPr>
            <a:lvl6pPr marL="3047943" indent="0">
              <a:buNone/>
              <a:defRPr sz="2134" b="1"/>
            </a:lvl6pPr>
            <a:lvl7pPr marL="3657532" indent="0">
              <a:buNone/>
              <a:defRPr sz="2134" b="1"/>
            </a:lvl7pPr>
            <a:lvl8pPr marL="4267122" indent="0">
              <a:buNone/>
              <a:defRPr sz="2134" b="1"/>
            </a:lvl8pPr>
            <a:lvl9pPr marL="4876710" indent="0">
              <a:buNone/>
              <a:defRPr sz="2134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0903" y="3159695"/>
            <a:ext cx="4906313" cy="321774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08B5-70B9-4C5F-AF02-D9EDC7B7F12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0724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08B5-70B9-4C5F-AF02-D9EDC7B7F12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66768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08B5-70B9-4C5F-AF02-D9EDC7B7F12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00467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411" y="1624136"/>
            <a:ext cx="4069765" cy="750711"/>
          </a:xfrm>
        </p:spPr>
        <p:txBody>
          <a:bodyPr anchor="b">
            <a:normAutofit/>
          </a:bodyPr>
          <a:lstStyle>
            <a:lvl1pPr>
              <a:defRPr sz="3522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24136"/>
            <a:ext cx="6034028" cy="4745366"/>
          </a:xfrm>
        </p:spPr>
        <p:txBody>
          <a:bodyPr>
            <a:normAutofit/>
          </a:bodyPr>
          <a:lstStyle>
            <a:lvl1pPr>
              <a:defRPr sz="3251"/>
            </a:lvl1pPr>
            <a:lvl2pPr>
              <a:defRPr sz="2709"/>
            </a:lvl2pPr>
            <a:lvl3pPr>
              <a:defRPr sz="2438"/>
            </a:lvl3pPr>
            <a:lvl4pPr>
              <a:defRPr sz="2168"/>
            </a:lvl4pPr>
            <a:lvl5pPr>
              <a:defRPr sz="2168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5411" y="2464549"/>
            <a:ext cx="4069765" cy="3912889"/>
          </a:xfrm>
        </p:spPr>
        <p:txBody>
          <a:bodyPr/>
          <a:lstStyle>
            <a:lvl1pPr marL="0" indent="0">
              <a:buNone/>
              <a:defRPr sz="2134"/>
            </a:lvl1pPr>
            <a:lvl2pPr marL="609589" indent="0">
              <a:buNone/>
              <a:defRPr sz="1867"/>
            </a:lvl2pPr>
            <a:lvl3pPr marL="1219177" indent="0">
              <a:buNone/>
              <a:defRPr sz="1600"/>
            </a:lvl3pPr>
            <a:lvl4pPr marL="1828766" indent="0">
              <a:buNone/>
              <a:defRPr sz="1333"/>
            </a:lvl4pPr>
            <a:lvl5pPr marL="2438355" indent="0">
              <a:buNone/>
              <a:defRPr sz="1333"/>
            </a:lvl5pPr>
            <a:lvl6pPr marL="3047943" indent="0">
              <a:buNone/>
              <a:defRPr sz="1333"/>
            </a:lvl6pPr>
            <a:lvl7pPr marL="3657532" indent="0">
              <a:buNone/>
              <a:defRPr sz="1333"/>
            </a:lvl7pPr>
            <a:lvl8pPr marL="4267122" indent="0">
              <a:buNone/>
              <a:defRPr sz="1333"/>
            </a:lvl8pPr>
            <a:lvl9pPr marL="4876710" indent="0">
              <a:buNone/>
              <a:defRPr sz="1333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08B5-70B9-4C5F-AF02-D9EDC7B7F12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2850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5410" y="1624135"/>
            <a:ext cx="10241805" cy="7499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410" y="2466852"/>
            <a:ext cx="10241805" cy="390862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5411" y="6467142"/>
            <a:ext cx="9644234" cy="21655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355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88568" y="6467142"/>
            <a:ext cx="428648" cy="2165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355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BC08B5-70B9-4C5F-AF02-D9EDC7B7F126}" type="slidenum">
              <a:rPr lang="en-001" smtClean="0"/>
              <a:t>‹#›</a:t>
            </a:fld>
            <a:endParaRPr lang="en-001"/>
          </a:p>
        </p:txBody>
      </p:sp>
      <p:pic>
        <p:nvPicPr>
          <p:cNvPr id="10" name="Obrázek 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13" y="541382"/>
            <a:ext cx="2567128" cy="71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9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1219177" rtl="0" eaLnBrk="1" latinLnBrk="0" hangingPunct="1">
        <a:lnSpc>
          <a:spcPct val="100000"/>
        </a:lnSpc>
        <a:spcBef>
          <a:spcPct val="0"/>
        </a:spcBef>
        <a:buNone/>
        <a:defRPr sz="3522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61302" indent="-361302" algn="l" defTabSz="1219177" rtl="0" eaLnBrk="1" latinLnBrk="0" hangingPunct="1">
        <a:lnSpc>
          <a:spcPct val="100000"/>
        </a:lnSpc>
        <a:spcBef>
          <a:spcPts val="1333"/>
        </a:spcBef>
        <a:buFont typeface="Arial" panose="020B0604020202020204" pitchFamily="34" charset="0"/>
        <a:buChar char="−"/>
        <a:defRPr sz="2709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31206" indent="-369904" algn="l" defTabSz="1219177" rtl="0" eaLnBrk="1" latinLnBrk="0" hangingPunct="1">
        <a:lnSpc>
          <a:spcPct val="100000"/>
        </a:lnSpc>
        <a:spcBef>
          <a:spcPts val="667"/>
        </a:spcBef>
        <a:buFont typeface="Arial" panose="020B0604020202020204" pitchFamily="34" charset="0"/>
        <a:buChar char="−"/>
        <a:defRPr sz="2438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92508" indent="-361302" algn="l" defTabSz="1219177" rtl="0" eaLnBrk="1" latinLnBrk="0" hangingPunct="1">
        <a:lnSpc>
          <a:spcPct val="100000"/>
        </a:lnSpc>
        <a:spcBef>
          <a:spcPts val="667"/>
        </a:spcBef>
        <a:buFont typeface="Arial" panose="020B0604020202020204" pitchFamily="34" charset="0"/>
        <a:buChar char="−"/>
        <a:defRPr sz="2168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51661" indent="-359152" algn="l" defTabSz="1219177" rtl="0" eaLnBrk="1" latinLnBrk="0" hangingPunct="1">
        <a:lnSpc>
          <a:spcPct val="100000"/>
        </a:lnSpc>
        <a:spcBef>
          <a:spcPts val="667"/>
        </a:spcBef>
        <a:buFont typeface="Arial" panose="020B0604020202020204" pitchFamily="34" charset="0"/>
        <a:buChar char="−"/>
        <a:defRPr sz="1897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3714" indent="-372056" algn="l" defTabSz="1219177" rtl="0" eaLnBrk="1" latinLnBrk="0" hangingPunct="1">
        <a:lnSpc>
          <a:spcPct val="100000"/>
        </a:lnSpc>
        <a:spcBef>
          <a:spcPts val="667"/>
        </a:spcBef>
        <a:buFont typeface="Arial" panose="020B0604020202020204" pitchFamily="34" charset="0"/>
        <a:buChar char="−"/>
        <a:defRPr sz="1897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38" indent="-304794" algn="l" defTabSz="1219177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27" indent="-304794" algn="l" defTabSz="1219177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915" indent="-304794" algn="l" defTabSz="1219177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504" indent="-304794" algn="l" defTabSz="1219177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9" algn="l" defTabSz="121917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7" algn="l" defTabSz="121917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66" algn="l" defTabSz="121917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55" algn="l" defTabSz="121917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43" algn="l" defTabSz="121917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32" algn="l" defTabSz="121917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22" algn="l" defTabSz="121917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10" algn="l" defTabSz="121917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F118F5-D5EC-1DF3-D914-1A827CEA2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Analýza softwaru pro práci s vektorovou grafikou v kontextu tvorby loga</a:t>
            </a:r>
            <a:endParaRPr lang="en-001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D573BA5-BFAA-DD5A-AEAA-D29D406F56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cs-CZ" dirty="0"/>
              <a:t>Autor: Nicolas Palán</a:t>
            </a:r>
          </a:p>
          <a:p>
            <a:r>
              <a:rPr lang="cs-CZ" dirty="0"/>
              <a:t>Obor: </a:t>
            </a:r>
            <a:r>
              <a:rPr lang="cs-CZ" dirty="0" err="1"/>
              <a:t>ITma</a:t>
            </a:r>
            <a:r>
              <a:rPr lang="cs-CZ" dirty="0"/>
              <a:t> – </a:t>
            </a:r>
            <a:r>
              <a:rPr lang="cs-CZ" dirty="0" err="1"/>
              <a:t>TEVmi</a:t>
            </a:r>
            <a:endParaRPr lang="cs-CZ" dirty="0"/>
          </a:p>
          <a:p>
            <a:r>
              <a:rPr lang="cs-CZ" dirty="0"/>
              <a:t>Vedoucí práce: Mgr. Tomáš </a:t>
            </a:r>
            <a:r>
              <a:rPr lang="cs-CZ" dirty="0" err="1"/>
              <a:t>Dragon</a:t>
            </a:r>
            <a:r>
              <a:rPr lang="cs-CZ" dirty="0"/>
              <a:t>, Ph.D., MBA</a:t>
            </a:r>
          </a:p>
          <a:p>
            <a:r>
              <a:rPr lang="cs-CZ" dirty="0"/>
              <a:t>Katedra: Katedra technické a informační výchovy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4775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A79B8C-23E1-2E17-4F90-A2BF5726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Obsah prezentace</a:t>
            </a:r>
            <a:endParaRPr lang="en-00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2F14D6-BB2B-A6AB-A208-A8781DD9E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200" dirty="0"/>
              <a:t>Úvod</a:t>
            </a:r>
          </a:p>
          <a:p>
            <a:r>
              <a:rPr lang="cs-CZ" sz="2200" dirty="0"/>
              <a:t>Struktura a cíl práce</a:t>
            </a:r>
          </a:p>
          <a:p>
            <a:r>
              <a:rPr lang="cs-CZ" sz="2200" dirty="0"/>
              <a:t>Teoretická část</a:t>
            </a:r>
          </a:p>
          <a:p>
            <a:r>
              <a:rPr lang="cs-CZ" sz="2200" dirty="0"/>
              <a:t>Praktická část</a:t>
            </a:r>
          </a:p>
          <a:p>
            <a:r>
              <a:rPr lang="cs-CZ" sz="2200" dirty="0"/>
              <a:t>Závěr</a:t>
            </a:r>
          </a:p>
          <a:p>
            <a:r>
              <a:rPr lang="cs-CZ" sz="2200" dirty="0"/>
              <a:t>Přínos práce</a:t>
            </a:r>
          </a:p>
          <a:p>
            <a:r>
              <a:rPr lang="cs-CZ" sz="2200" dirty="0"/>
              <a:t>Reakce na otázky</a:t>
            </a:r>
            <a:endParaRPr lang="en-001" sz="2200" dirty="0"/>
          </a:p>
        </p:txBody>
      </p:sp>
    </p:spTree>
    <p:extLst>
      <p:ext uri="{BB962C8B-B14F-4D97-AF65-F5344CB8AC3E}">
        <p14:creationId xmlns:p14="http://schemas.microsoft.com/office/powerpoint/2010/main" val="378964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35089A-47DB-9A9A-E716-525107835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</a:t>
            </a:r>
            <a:endParaRPr lang="en-00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89296E-77F4-B589-AA44-19AF8EF9C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200" dirty="0"/>
              <a:t>Vektorová grafika je v dnešní době nedílná součást digitálního světa</a:t>
            </a:r>
          </a:p>
          <a:p>
            <a:r>
              <a:rPr lang="cs-CZ" sz="2200" dirty="0"/>
              <a:t>Loga jako klíčový nástroj komunikace značky</a:t>
            </a:r>
          </a:p>
          <a:p>
            <a:r>
              <a:rPr lang="cs-CZ" sz="2200" dirty="0"/>
              <a:t>Osobní motivace: dlouhodobý zájem o výtvarnou činnost → tvorba loga jako ideální průnik kreativity a IT</a:t>
            </a:r>
          </a:p>
          <a:p>
            <a:r>
              <a:rPr lang="cs-CZ" sz="2200" dirty="0"/>
              <a:t>Systematické srovnání SW pro práci s vektorovou grafikou</a:t>
            </a:r>
          </a:p>
        </p:txBody>
      </p:sp>
    </p:spTree>
    <p:extLst>
      <p:ext uri="{BB962C8B-B14F-4D97-AF65-F5344CB8AC3E}">
        <p14:creationId xmlns:p14="http://schemas.microsoft.com/office/powerpoint/2010/main" val="1107570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B1D663-FC08-7A4B-12B4-C374A242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Struktura a cíl práce</a:t>
            </a:r>
            <a:endParaRPr lang="en-00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D9DFFA-F3B3-41AF-D2E7-4ED3FDE74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200" dirty="0"/>
              <a:t>Teoretická část</a:t>
            </a:r>
          </a:p>
          <a:p>
            <a:pPr lvl="1"/>
            <a:r>
              <a:rPr lang="cs-CZ" sz="2000" dirty="0"/>
              <a:t>Vektorová grafika (principy, historie, formáty)</a:t>
            </a:r>
          </a:p>
          <a:p>
            <a:pPr lvl="1"/>
            <a:r>
              <a:rPr lang="cs-CZ" sz="2000" dirty="0"/>
              <a:t>Tvorba loga (principy designu, typy log)</a:t>
            </a:r>
          </a:p>
          <a:p>
            <a:pPr lvl="1"/>
            <a:r>
              <a:rPr lang="cs-CZ" sz="2000" dirty="0"/>
              <a:t>Přehled SW (Adobe </a:t>
            </a:r>
            <a:r>
              <a:rPr lang="cs-CZ" sz="2000" dirty="0" err="1"/>
              <a:t>Illustrator</a:t>
            </a:r>
            <a:r>
              <a:rPr lang="cs-CZ" sz="2000" dirty="0"/>
              <a:t>, </a:t>
            </a:r>
            <a:r>
              <a:rPr lang="cs-CZ" sz="2000" dirty="0" err="1"/>
              <a:t>CorelDRAW</a:t>
            </a:r>
            <a:r>
              <a:rPr lang="cs-CZ" sz="2000" dirty="0"/>
              <a:t>, </a:t>
            </a:r>
            <a:r>
              <a:rPr lang="cs-CZ" sz="2000" dirty="0" err="1"/>
              <a:t>Inkscape</a:t>
            </a:r>
            <a:r>
              <a:rPr lang="cs-CZ" sz="2000" dirty="0"/>
              <a:t>)</a:t>
            </a:r>
          </a:p>
          <a:p>
            <a:r>
              <a:rPr lang="cs-CZ" sz="2200" dirty="0"/>
              <a:t>Praktická část</a:t>
            </a:r>
          </a:p>
          <a:p>
            <a:pPr lvl="1"/>
            <a:r>
              <a:rPr lang="cs-CZ" sz="2000" dirty="0"/>
              <a:t>Vytvoření identického loga „</a:t>
            </a:r>
            <a:r>
              <a:rPr lang="cs-CZ" sz="2000" dirty="0" err="1"/>
              <a:t>Nicosmetics</a:t>
            </a:r>
            <a:r>
              <a:rPr lang="cs-CZ" sz="2000" dirty="0"/>
              <a:t>“ ve vybraných programech</a:t>
            </a:r>
          </a:p>
          <a:p>
            <a:pPr lvl="1"/>
            <a:r>
              <a:rPr lang="cs-CZ" sz="2000" dirty="0"/>
              <a:t>Hodnocení podle stanovených kritérií</a:t>
            </a:r>
          </a:p>
          <a:p>
            <a:r>
              <a:rPr lang="cs-CZ" sz="2200" dirty="0"/>
              <a:t>Hlavní cíl: analyzovat a porovnat SW v kontextu tvorby loga</a:t>
            </a:r>
            <a:endParaRPr lang="en-001" sz="2200" dirty="0"/>
          </a:p>
        </p:txBody>
      </p:sp>
    </p:spTree>
    <p:extLst>
      <p:ext uri="{BB962C8B-B14F-4D97-AF65-F5344CB8AC3E}">
        <p14:creationId xmlns:p14="http://schemas.microsoft.com/office/powerpoint/2010/main" val="391869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C2DBBC-1028-7CC0-EA4E-5A4A3041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Teoretická část</a:t>
            </a:r>
            <a:endParaRPr lang="en-00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3804BF-A2AE-CD94-2B56-A681E1A1D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cs-CZ" sz="2900" dirty="0"/>
              <a:t>Vektorová grafika</a:t>
            </a:r>
          </a:p>
          <a:p>
            <a:pPr lvl="1">
              <a:lnSpc>
                <a:spcPct val="120000"/>
              </a:lnSpc>
            </a:pPr>
            <a:r>
              <a:rPr lang="cs-CZ" sz="2600" dirty="0"/>
              <a:t>Základy vektorové grafiky</a:t>
            </a:r>
          </a:p>
          <a:p>
            <a:pPr lvl="1">
              <a:lnSpc>
                <a:spcPct val="120000"/>
              </a:lnSpc>
            </a:pPr>
            <a:r>
              <a:rPr lang="cs-CZ" sz="2600" dirty="0"/>
              <a:t>Historický vývoj vektorové grafiky</a:t>
            </a:r>
          </a:p>
          <a:p>
            <a:pPr lvl="1">
              <a:lnSpc>
                <a:spcPct val="120000"/>
              </a:lnSpc>
            </a:pPr>
            <a:r>
              <a:rPr lang="cs-CZ" sz="2600" dirty="0"/>
              <a:t>Komparace vektorové a rastrové grafiky</a:t>
            </a:r>
          </a:p>
          <a:p>
            <a:pPr>
              <a:lnSpc>
                <a:spcPct val="120000"/>
              </a:lnSpc>
            </a:pPr>
            <a:r>
              <a:rPr lang="cs-CZ" sz="2900" dirty="0"/>
              <a:t>Tvorba loga</a:t>
            </a:r>
          </a:p>
          <a:p>
            <a:pPr lvl="1">
              <a:lnSpc>
                <a:spcPct val="120000"/>
              </a:lnSpc>
            </a:pPr>
            <a:r>
              <a:rPr lang="cs-CZ" sz="2600" dirty="0"/>
              <a:t>Základní principy tvorby loga</a:t>
            </a:r>
          </a:p>
          <a:p>
            <a:pPr lvl="1">
              <a:lnSpc>
                <a:spcPct val="120000"/>
              </a:lnSpc>
            </a:pPr>
            <a:r>
              <a:rPr lang="cs-CZ" sz="2600" dirty="0"/>
              <a:t>Grafické formáty v kontextu exportu loga</a:t>
            </a:r>
          </a:p>
          <a:p>
            <a:pPr lvl="1">
              <a:lnSpc>
                <a:spcPct val="120000"/>
              </a:lnSpc>
            </a:pPr>
            <a:r>
              <a:rPr lang="cs-CZ" sz="2600" dirty="0" err="1"/>
              <a:t>Logomanuál</a:t>
            </a:r>
            <a:endParaRPr lang="cs-CZ" sz="2600" dirty="0"/>
          </a:p>
          <a:p>
            <a:pPr>
              <a:lnSpc>
                <a:spcPct val="120000"/>
              </a:lnSpc>
            </a:pPr>
            <a:r>
              <a:rPr lang="cs-CZ" sz="2900" dirty="0"/>
              <a:t>Programy pro tvorbu vektorové grafiky</a:t>
            </a:r>
            <a:endParaRPr lang="en-001" sz="2900" dirty="0"/>
          </a:p>
        </p:txBody>
      </p:sp>
    </p:spTree>
    <p:extLst>
      <p:ext uri="{BB962C8B-B14F-4D97-AF65-F5344CB8AC3E}">
        <p14:creationId xmlns:p14="http://schemas.microsoft.com/office/powerpoint/2010/main" val="22397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072DB4-5285-00FD-D840-F0513CCD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Praktická část</a:t>
            </a:r>
            <a:endParaRPr lang="en-00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130612-BA77-3BAB-41DE-0795879E8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200" dirty="0"/>
              <a:t>Praktická část</a:t>
            </a:r>
          </a:p>
          <a:p>
            <a:pPr lvl="1"/>
            <a:r>
              <a:rPr lang="cs-CZ" sz="2000" dirty="0"/>
              <a:t>Vyhotovení loga v programu Adobe </a:t>
            </a:r>
            <a:r>
              <a:rPr lang="cs-CZ" sz="2000" dirty="0" err="1"/>
              <a:t>Illustrator</a:t>
            </a:r>
            <a:r>
              <a:rPr lang="cs-CZ" sz="2000" dirty="0"/>
              <a:t> 2024</a:t>
            </a:r>
          </a:p>
          <a:p>
            <a:pPr lvl="1"/>
            <a:r>
              <a:rPr lang="cs-CZ" sz="2000" dirty="0"/>
              <a:t>Vyhotovení loga v programu </a:t>
            </a:r>
            <a:r>
              <a:rPr lang="cs-CZ" sz="2000" dirty="0" err="1"/>
              <a:t>CorelDRAW</a:t>
            </a:r>
            <a:r>
              <a:rPr lang="cs-CZ" sz="2000" dirty="0"/>
              <a:t> 2024</a:t>
            </a:r>
          </a:p>
          <a:p>
            <a:pPr lvl="1"/>
            <a:r>
              <a:rPr lang="cs-CZ" sz="2000" dirty="0"/>
              <a:t>Vyhotovení loga v programu </a:t>
            </a:r>
            <a:r>
              <a:rPr lang="cs-CZ" sz="2000" dirty="0" err="1"/>
              <a:t>Inkscape</a:t>
            </a:r>
            <a:r>
              <a:rPr lang="cs-CZ" sz="2000" dirty="0"/>
              <a:t> 1.4</a:t>
            </a:r>
          </a:p>
          <a:p>
            <a:r>
              <a:rPr lang="cs-CZ" sz="2200" dirty="0"/>
              <a:t>Shrnutí</a:t>
            </a:r>
            <a:endParaRPr lang="en-001" sz="2200" dirty="0"/>
          </a:p>
        </p:txBody>
      </p:sp>
    </p:spTree>
    <p:extLst>
      <p:ext uri="{BB962C8B-B14F-4D97-AF65-F5344CB8AC3E}">
        <p14:creationId xmlns:p14="http://schemas.microsoft.com/office/powerpoint/2010/main" val="3181159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kresba, skica, Perokresba, diagram&#10;&#10;Obsah vygenerovaný umělou inteligencí může být nesprávný.">
            <a:extLst>
              <a:ext uri="{FF2B5EF4-FFF2-40B4-BE49-F238E27FC236}">
                <a16:creationId xmlns:a16="http://schemas.microsoft.com/office/drawing/2014/main" id="{561732F4-D30A-8C96-C5EA-59B4DEAA5C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7" t="14545" r="17011" b="17091"/>
          <a:stretch/>
        </p:blipFill>
        <p:spPr bwMode="auto">
          <a:xfrm>
            <a:off x="6058576" y="2949379"/>
            <a:ext cx="6133424" cy="39086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7AA8D7-C4E2-FD4F-ED08-EE7785A4E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Praktická část</a:t>
            </a:r>
            <a:endParaRPr lang="en-00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050B36-4268-CF0A-45CC-8CD175800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410" y="2466852"/>
            <a:ext cx="10241805" cy="4391148"/>
          </a:xfrm>
        </p:spPr>
        <p:txBody>
          <a:bodyPr>
            <a:normAutofit/>
          </a:bodyPr>
          <a:lstStyle/>
          <a:p>
            <a:r>
              <a:rPr lang="cs-CZ" sz="2200" dirty="0"/>
              <a:t>Vyhotovení loga podle stejné předlohy ve vybraných programech</a:t>
            </a:r>
          </a:p>
          <a:p>
            <a:r>
              <a:rPr lang="cs-CZ" sz="2200" dirty="0"/>
              <a:t>Popis průběhu práce v každém z programů</a:t>
            </a:r>
          </a:p>
          <a:p>
            <a:r>
              <a:rPr lang="cs-CZ" sz="2200" dirty="0"/>
              <a:t>Hodnocení podle zvolených kritérií</a:t>
            </a:r>
          </a:p>
          <a:p>
            <a:pPr lvl="1"/>
            <a:r>
              <a:rPr lang="cs-CZ" sz="2000" dirty="0"/>
              <a:t>Kompatibilita OS</a:t>
            </a:r>
          </a:p>
          <a:p>
            <a:pPr lvl="1"/>
            <a:r>
              <a:rPr lang="cs-CZ" sz="2000" dirty="0"/>
              <a:t>Podporované formáty</a:t>
            </a:r>
          </a:p>
          <a:p>
            <a:pPr lvl="1"/>
            <a:r>
              <a:rPr lang="cs-CZ" sz="2000" dirty="0"/>
              <a:t>Přehlednost UI</a:t>
            </a:r>
          </a:p>
          <a:p>
            <a:pPr lvl="1"/>
            <a:r>
              <a:rPr lang="cs-CZ" sz="2000" dirty="0"/>
              <a:t>Celkové UX</a:t>
            </a:r>
          </a:p>
          <a:p>
            <a:pPr lvl="1"/>
            <a:r>
              <a:rPr lang="cs-CZ" sz="2000" dirty="0"/>
              <a:t>Implementace AI</a:t>
            </a:r>
          </a:p>
          <a:p>
            <a:pPr lvl="1"/>
            <a:r>
              <a:rPr lang="cs-CZ" sz="2000" dirty="0"/>
              <a:t>Licence a náklady</a:t>
            </a:r>
          </a:p>
          <a:p>
            <a:pPr lvl="1"/>
            <a:r>
              <a:rPr lang="cs-CZ" sz="2000" dirty="0"/>
              <a:t>Podpora a nápověda</a:t>
            </a:r>
            <a:endParaRPr lang="en-001" sz="2000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C94605A0-D75B-D097-D668-BD875BE9464F}"/>
              </a:ext>
            </a:extLst>
          </p:cNvPr>
          <p:cNvSpPr txBox="1"/>
          <p:nvPr/>
        </p:nvSpPr>
        <p:spPr>
          <a:xfrm>
            <a:off x="7696250" y="6596390"/>
            <a:ext cx="4495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s-CZ" sz="1100" dirty="0">
                <a:solidFill>
                  <a:srgbClr val="6C6D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Zdroj: vlastní fotoarchiv</a:t>
            </a:r>
            <a:endParaRPr lang="en-001" sz="1100" dirty="0">
              <a:solidFill>
                <a:srgbClr val="6C6D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942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E16EB4-586D-4EF4-3245-B19686336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Praktická část</a:t>
            </a:r>
            <a:endParaRPr lang="en-001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345827C2-E301-E2E3-2FA1-9C79417FB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000" y="2374125"/>
            <a:ext cx="9720000" cy="4459281"/>
          </a:xfrm>
          <a:prstGeom prst="rect">
            <a:avLst/>
          </a:pr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2BDECC8F-0031-1122-4BA3-82F10170C8BA}"/>
              </a:ext>
            </a:extLst>
          </p:cNvPr>
          <p:cNvSpPr txBox="1"/>
          <p:nvPr/>
        </p:nvSpPr>
        <p:spPr>
          <a:xfrm>
            <a:off x="7696250" y="6596390"/>
            <a:ext cx="4495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s-CZ" sz="1100" dirty="0">
                <a:solidFill>
                  <a:srgbClr val="6C6D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Zdroj: vlastní zpracování</a:t>
            </a:r>
            <a:endParaRPr lang="en-001" sz="1100" dirty="0">
              <a:solidFill>
                <a:srgbClr val="6C6D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51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4F97FD-1489-8B97-229C-0F053CFB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Praktická část</a:t>
            </a:r>
            <a:endParaRPr lang="en-001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5DC8906-115D-7315-683C-16BF01059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000" y="2374125"/>
            <a:ext cx="9720000" cy="4431025"/>
          </a:xfrm>
          <a:prstGeom prst="rect">
            <a:avLst/>
          </a:pr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5291B5E0-1F1B-111D-9988-419150C38A70}"/>
              </a:ext>
            </a:extLst>
          </p:cNvPr>
          <p:cNvSpPr txBox="1"/>
          <p:nvPr/>
        </p:nvSpPr>
        <p:spPr>
          <a:xfrm>
            <a:off x="7696250" y="6596390"/>
            <a:ext cx="4495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s-CZ" sz="1100" dirty="0">
                <a:solidFill>
                  <a:srgbClr val="6C6D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Zdroj: vlastní zpracování</a:t>
            </a:r>
            <a:endParaRPr lang="en-001" sz="1100" dirty="0">
              <a:solidFill>
                <a:srgbClr val="6C6D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620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2467D0-BA0A-95B9-90A5-897C666D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  <a:endParaRPr lang="en-00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5BB11D-C351-DEBC-9861-1F7D65DEC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410" y="2466852"/>
            <a:ext cx="10241805" cy="4391148"/>
          </a:xfrm>
        </p:spPr>
        <p:txBody>
          <a:bodyPr numCol="2">
            <a:normAutofit/>
          </a:bodyPr>
          <a:lstStyle/>
          <a:p>
            <a:r>
              <a:rPr lang="cs-CZ" sz="2200" dirty="0"/>
              <a:t>Adobe </a:t>
            </a:r>
            <a:r>
              <a:rPr lang="cs-CZ" sz="2200" dirty="0" err="1"/>
              <a:t>Illustrator</a:t>
            </a:r>
            <a:endParaRPr lang="cs-CZ" sz="2200" dirty="0"/>
          </a:p>
          <a:p>
            <a:pPr lvl="1"/>
            <a:r>
              <a:rPr lang="cs-CZ" sz="2000"/>
              <a:t>Nejplynulejší UX                                                     </a:t>
            </a:r>
            <a:endParaRPr lang="cs-CZ" sz="2000" dirty="0"/>
          </a:p>
          <a:p>
            <a:pPr lvl="1"/>
            <a:r>
              <a:rPr lang="cs-CZ" sz="2000" dirty="0"/>
              <a:t>Komfort při práci</a:t>
            </a:r>
          </a:p>
          <a:p>
            <a:pPr lvl="1"/>
            <a:r>
              <a:rPr lang="cs-CZ" sz="2000" dirty="0"/>
              <a:t>Vyšší náklady</a:t>
            </a:r>
          </a:p>
          <a:p>
            <a:r>
              <a:rPr lang="cs-CZ" sz="2200" dirty="0" err="1"/>
              <a:t>CorelDRAW</a:t>
            </a:r>
            <a:endParaRPr lang="cs-CZ" sz="2200" dirty="0"/>
          </a:p>
          <a:p>
            <a:pPr lvl="1"/>
            <a:r>
              <a:rPr lang="cs-CZ" sz="2000" dirty="0"/>
              <a:t>Široká podpora souborových formátů</a:t>
            </a:r>
          </a:p>
          <a:p>
            <a:pPr lvl="1"/>
            <a:r>
              <a:rPr lang="cs-CZ" sz="2000" dirty="0"/>
              <a:t>Možnost trvalé licence</a:t>
            </a:r>
          </a:p>
          <a:p>
            <a:pPr lvl="1"/>
            <a:r>
              <a:rPr lang="cs-CZ" sz="2000" dirty="0"/>
              <a:t>Některé nástroje méně intuitivní</a:t>
            </a:r>
          </a:p>
          <a:p>
            <a:endParaRPr lang="cs-CZ" sz="2200" dirty="0"/>
          </a:p>
          <a:p>
            <a:endParaRPr lang="cs-CZ" sz="2200" dirty="0"/>
          </a:p>
          <a:p>
            <a:r>
              <a:rPr lang="cs-CZ" sz="2200" dirty="0" err="1"/>
              <a:t>Inkscape</a:t>
            </a:r>
            <a:endParaRPr lang="cs-CZ" sz="2200" dirty="0"/>
          </a:p>
          <a:p>
            <a:pPr lvl="1"/>
            <a:r>
              <a:rPr lang="cs-CZ" sz="2000" dirty="0"/>
              <a:t>Zcela zdarma</a:t>
            </a:r>
          </a:p>
          <a:p>
            <a:pPr lvl="1"/>
            <a:r>
              <a:rPr lang="cs-CZ" sz="2000" dirty="0"/>
              <a:t>Méně přehledné UI</a:t>
            </a:r>
          </a:p>
          <a:p>
            <a:pPr marL="361302" lvl="1" indent="0">
              <a:buNone/>
            </a:pPr>
            <a:endParaRPr lang="cs-CZ" sz="1729" dirty="0"/>
          </a:p>
          <a:p>
            <a:pPr>
              <a:lnSpc>
                <a:spcPct val="110000"/>
              </a:lnSpc>
            </a:pPr>
            <a:r>
              <a:rPr lang="cs-CZ" sz="2200" dirty="0"/>
              <a:t>Cíl práce</a:t>
            </a:r>
          </a:p>
          <a:p>
            <a:pPr lvl="1">
              <a:lnSpc>
                <a:spcPct val="110000"/>
              </a:lnSpc>
            </a:pPr>
            <a:r>
              <a:rPr lang="cs-CZ" sz="2000" dirty="0"/>
              <a:t>Naplněn prostřednictvím vytvoření identického loga ve třech různých programech a následné komparace</a:t>
            </a:r>
          </a:p>
        </p:txBody>
      </p:sp>
    </p:spTree>
    <p:extLst>
      <p:ext uri="{BB962C8B-B14F-4D97-AF65-F5344CB8AC3E}">
        <p14:creationId xmlns:p14="http://schemas.microsoft.com/office/powerpoint/2010/main" val="2942672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674889-DF3C-EBC2-D4C3-99AF8A083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Přínos práce</a:t>
            </a:r>
            <a:endParaRPr lang="en-00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9BB72D-7ADD-DE5F-6F7A-67C42197C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200" dirty="0"/>
              <a:t>Užitek pro učitele informatiky při výběru softwaru pro výuku vektorové grafiky</a:t>
            </a:r>
          </a:p>
          <a:p>
            <a:r>
              <a:rPr lang="cs-CZ" sz="2200" dirty="0"/>
              <a:t>Přímé porovnání konkrétního úkolu v různých programech</a:t>
            </a:r>
          </a:p>
          <a:p>
            <a:r>
              <a:rPr lang="cs-CZ" sz="2200" dirty="0"/>
              <a:t>Srozumitelné srovnání usnadňující rozhodování podle individuálních potřeb </a:t>
            </a:r>
            <a:br>
              <a:rPr lang="cs-CZ" sz="2200" dirty="0"/>
            </a:br>
            <a:r>
              <a:rPr lang="cs-CZ" sz="2200" dirty="0"/>
              <a:t>a očekávání</a:t>
            </a:r>
            <a:endParaRPr lang="en-001" sz="2200" dirty="0"/>
          </a:p>
        </p:txBody>
      </p:sp>
    </p:spTree>
    <p:extLst>
      <p:ext uri="{BB962C8B-B14F-4D97-AF65-F5344CB8AC3E}">
        <p14:creationId xmlns:p14="http://schemas.microsoft.com/office/powerpoint/2010/main" val="3076942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4ECF8F-E0C5-3D91-49B5-52B99C45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Reakce na otázky</a:t>
            </a:r>
            <a:endParaRPr lang="en-00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572E9B-1B5D-57A0-5908-6A63EECD1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200" dirty="0"/>
              <a:t>Uvažoval jste o zařazení i jiných programů? Proč jste se rozhodl právě pro Adobe </a:t>
            </a:r>
            <a:r>
              <a:rPr lang="cs-CZ" sz="2200" dirty="0" err="1"/>
              <a:t>Illustrator</a:t>
            </a:r>
            <a:r>
              <a:rPr lang="cs-CZ" sz="2200" dirty="0"/>
              <a:t>, </a:t>
            </a:r>
            <a:r>
              <a:rPr lang="cs-CZ" sz="2200" dirty="0" err="1"/>
              <a:t>CorelDRAW</a:t>
            </a:r>
            <a:r>
              <a:rPr lang="cs-CZ" sz="2200" dirty="0"/>
              <a:t> a </a:t>
            </a:r>
            <a:r>
              <a:rPr lang="cs-CZ" sz="2200" dirty="0" err="1"/>
              <a:t>Inkscape</a:t>
            </a:r>
            <a:r>
              <a:rPr lang="cs-CZ" sz="2200" dirty="0"/>
              <a:t>?</a:t>
            </a:r>
          </a:p>
          <a:p>
            <a:pPr lvl="1"/>
            <a:r>
              <a:rPr lang="cs-CZ" sz="1929" dirty="0" err="1"/>
              <a:t>Zoner</a:t>
            </a:r>
            <a:r>
              <a:rPr lang="cs-CZ" sz="1929" dirty="0"/>
              <a:t> </a:t>
            </a:r>
            <a:r>
              <a:rPr lang="cs-CZ" sz="1929" dirty="0" err="1"/>
              <a:t>Callisto</a:t>
            </a:r>
            <a:endParaRPr lang="cs-CZ" sz="1929" dirty="0"/>
          </a:p>
          <a:p>
            <a:pPr lvl="1"/>
            <a:r>
              <a:rPr lang="cs-CZ" sz="1929" dirty="0"/>
              <a:t>Z důvodu jejich rozšíření mezi uživateli</a:t>
            </a:r>
            <a:endParaRPr lang="cs-CZ" sz="2200" dirty="0"/>
          </a:p>
          <a:p>
            <a:r>
              <a:rPr lang="cs-CZ" sz="2200" dirty="0"/>
              <a:t>Jaká kritéria pro vás byla při hodnocení softwaru nejdůležitější a proč? </a:t>
            </a:r>
          </a:p>
          <a:p>
            <a:pPr lvl="1"/>
            <a:r>
              <a:rPr lang="cs-CZ" sz="1929" dirty="0"/>
              <a:t>Celkové UX</a:t>
            </a:r>
          </a:p>
          <a:p>
            <a:pPr lvl="1"/>
            <a:r>
              <a:rPr lang="cs-CZ" sz="1929" dirty="0"/>
              <a:t>Licence a náklady</a:t>
            </a: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40764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3F311F-F7A9-55E6-D9A0-3E732C5980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Děkuji za pozornost</a:t>
            </a:r>
            <a:endParaRPr lang="en-001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1AF4F8B-144A-2CC6-6659-F6A6711CB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sz="2000" dirty="0"/>
              <a:t>05.06.2025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760592005"/>
      </p:ext>
    </p:extLst>
  </p:cSld>
  <p:clrMapOvr>
    <a:masterClrMapping/>
  </p:clrMapOvr>
</p:sld>
</file>

<file path=ppt/theme/theme1.xml><?xml version="1.0" encoding="utf-8"?>
<a:theme xmlns:a="http://schemas.openxmlformats.org/drawingml/2006/main" name="UP_prezentace_cz_16x9 (1)">
  <a:themeElements>
    <a:clrScheme name="U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BAB"/>
      </a:accent1>
      <a:accent2>
        <a:srgbClr val="6C6D70"/>
      </a:accent2>
      <a:accent3>
        <a:srgbClr val="A5A5A5"/>
      </a:accent3>
      <a:accent4>
        <a:srgbClr val="ED7D31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_prezentace_cz_16x9.potx" id="{193B350C-BD93-44C2-AA23-001E80B1E4DC}" vid="{080CA9D0-FE38-4C67-AC33-3149459E10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UP_prezentace_cz_16x9 (1)</Template>
  <TotalTime>199</TotalTime>
  <Words>390</Words>
  <Application>Microsoft Office PowerPoint</Application>
  <PresentationFormat>Širokoúhlá obrazovka</PresentationFormat>
  <Paragraphs>89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1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5" baseType="lpstr">
      <vt:lpstr>Arial</vt:lpstr>
      <vt:lpstr>UP_prezentace_cz_16x9 (1)</vt:lpstr>
      <vt:lpstr>Analýza softwaru pro práci s vektorovou grafikou v kontextu tvorby loga</vt:lpstr>
      <vt:lpstr>Obsah prezentace</vt:lpstr>
      <vt:lpstr>Úvod</vt:lpstr>
      <vt:lpstr>Struktura a cíl práce</vt:lpstr>
      <vt:lpstr>Teoretická část</vt:lpstr>
      <vt:lpstr>Praktická část</vt:lpstr>
      <vt:lpstr>Praktická část</vt:lpstr>
      <vt:lpstr>Praktická část</vt:lpstr>
      <vt:lpstr>Praktická část</vt:lpstr>
      <vt:lpstr>Závěr</vt:lpstr>
      <vt:lpstr>Přínos práce</vt:lpstr>
      <vt:lpstr>Reakce na otázky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Palan Nicolas</dc:creator>
  <cp:lastModifiedBy>Sekanina Radim</cp:lastModifiedBy>
  <cp:revision>15</cp:revision>
  <dcterms:created xsi:type="dcterms:W3CDTF">2025-05-19T14:37:56Z</dcterms:created>
  <dcterms:modified xsi:type="dcterms:W3CDTF">2026-05-31T14:58:25Z</dcterms:modified>
</cp:coreProperties>
</file>